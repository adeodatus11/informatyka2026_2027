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lnSpc>
        <a:spcPct val="100000"/>
      </a:lnSpc>
      <a:spcBef>
        <a:spcPts val="1000"/>
      </a:spcBef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500"/>
      </a:spcBef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500"/>
      </a:spcBef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500"/>
      </a:spcBef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500"/>
      </a:spcBef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500"/>
      </a:spcBef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500"/>
      </a:spcBef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500"/>
      </a:spcBef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500"/>
      </a:spcBef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00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</p:spPr>
        <p:txBody>
          <a:bodyPr/>
          <a:lstStyle/>
          <a:p>
            <a:endParaRPr lang="pl-PL" dirty="0"/>
          </a:p>
        </p:txBody>
      </p:sp>
      <p:sp>
        <p:nvSpPr>
          <p:cNvPr id="3" name="Symbol zastępczy obrazu slajdu 2"/>
          <p:cNvSpPr>
            <a:spLocks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l-PL" dirty="0"/>
          </a:p>
        </p:txBody>
      </p:sp>
      <p:sp>
        <p:nvSpPr>
          <p:cNvPr id="4" name="Symbol zastępczy notatek 3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rPr lang="pl-PL" dirty="0"/>
              <a:t>Kliknij, aby edytować style wzorca tekstu</a:t>
            </a:r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</p:spPr>
        <p:txBody>
          <a:bodyPr/>
          <a:lstStyle/>
          <a:p>
            <a:fld id="{0F1C4A7B-2A7E-4D5C-9E0B-1B2C3D4E5F60}" type="slidenum">
              <a:rPr lang="pl-PL"/>
              <a:t>‹#›</a:t>
            </a:fld>
            <a:endParaRPr lang="pl-P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524000" y="1809750"/>
            <a:ext cx="9144000" cy="19050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pl-PL" dirty="0"/>
              <a:t>Kliknij, aby edytować styl wzorca tytułu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524000" y="3905250"/>
            <a:ext cx="9144000" cy="1143000"/>
          </a:xfr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pl-PL" dirty="0"/>
              <a:t>Kliknij, aby edytować styl wzorca podtytułu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Kliknij, aby edytować styl wzorca tytułu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8200" y="1714500"/>
            <a:ext cx="10515600" cy="2381250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pl-PL" dirty="0"/>
              <a:t>Kliknij, aby edytować styl wzorca tytułu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8200" y="4286250"/>
            <a:ext cx="10515600" cy="1047750"/>
          </a:xfrm>
        </p:spPr>
        <p:txBody>
          <a:bodyPr/>
          <a:lstStyle>
            <a:lvl1pPr marL="0" indent="0">
              <a:buNone/>
              <a:defRPr sz="2400"/>
            </a:lvl1pPr>
          </a:lstStyle>
          <a:p>
            <a:r>
              <a:rPr lang="pl-PL" dirty="0"/>
              <a:t>Kliknij, aby edytować style wzorca tekstu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ie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Kliknij, aby edytować styl wzorca tytułu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609600" y="1619250"/>
            <a:ext cx="5334000" cy="4476750"/>
          </a:xfrm>
        </p:spPr>
        <p:txBody>
          <a:bodyPr/>
          <a:lstStyle/>
          <a:p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248400" y="1619250"/>
            <a:ext cx="5334000" cy="4476750"/>
          </a:xfrm>
        </p:spPr>
        <p:txBody>
          <a:bodyPr/>
          <a:lstStyle/>
          <a:p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Kliknij, aby edytować styl wzorca tytułu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609600" y="1619250"/>
            <a:ext cx="5334000" cy="60960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r>
              <a:rPr lang="pl-PL" b="1" dirty="0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09600" y="2324100"/>
            <a:ext cx="5334000" cy="3771900"/>
          </a:xfrm>
        </p:spPr>
        <p:txBody>
          <a:bodyPr/>
          <a:lstStyle/>
          <a:p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6248400" y="1619250"/>
            <a:ext cx="5334000" cy="60960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r>
              <a:rPr lang="pl-PL" b="1" dirty="0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6248400" y="2324100"/>
            <a:ext cx="5334000" cy="3771900"/>
          </a:xfrm>
        </p:spPr>
        <p:txBody>
          <a:bodyPr/>
          <a:lstStyle/>
          <a:p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Kliknij, aby edytować styl wzorca tytułu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8200" y="457200"/>
            <a:ext cx="4095750" cy="15240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 dirty="0"/>
              <a:t>Kliknij, aby edytować styl wzorca tytułu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5334000" y="457200"/>
            <a:ext cx="6191250" cy="5715000"/>
          </a:xfrm>
        </p:spPr>
        <p:txBody>
          <a:bodyPr/>
          <a:lstStyle>
            <a:lvl1pPr marL="0" indent="0">
              <a:buNone/>
              <a:defRPr sz="2800"/>
            </a:lvl1pPr>
          </a:lstStyle>
          <a:p>
            <a:endParaRPr lang="pl-PL" dirty="0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8200" y="2095500"/>
            <a:ext cx="4095750" cy="407670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pl-PL" dirty="0"/>
              <a:t>Kliknij, aby edytować style wzorca tekstu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609600" y="342900"/>
            <a:ext cx="10972800" cy="1047750"/>
          </a:xfrm>
        </p:spPr>
        <p:txBody>
          <a:bodyPr vert="horz" lIns="91440" tIns="45720" rIns="91440" bIns="45720" rtlCol="0" anchor="ctr"/>
          <a:lstStyle/>
          <a:p>
            <a:r>
              <a:rPr lang="pl-PL" dirty="0"/>
              <a:t>Kliknij, aby edytować styl wzorca tytułu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609600" y="1619250"/>
            <a:ext cx="10972800" cy="4476750"/>
          </a:xfrm>
        </p:spPr>
        <p:txBody>
          <a:bodyPr vert="horz" lIns="91440" tIns="45720" rIns="91440" bIns="45720" rtlCol="0"/>
          <a:lstStyle/>
          <a:p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609600" y="6324600"/>
            <a:ext cx="2857500" cy="361950"/>
          </a:xfrm>
        </p:spPr>
        <p:txBody>
          <a:bodyPr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 dirty="0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4000500" y="6324600"/>
            <a:ext cx="4191000" cy="361950"/>
          </a:xfrm>
        </p:spPr>
        <p:txBody>
          <a:bodyPr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 dirty="0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8724900" y="6324600"/>
            <a:ext cx="2857500" cy="361950"/>
          </a:xfrm>
        </p:spPr>
        <p:txBody>
          <a:bodyPr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pl-PL"/>
              <a:t>‹#›</a:t>
            </a:fld>
            <a:endParaRPr lang="pl-P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2pPr>
      <a:lvl3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3pPr>
      <a:lvl4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4pPr>
      <a:lvl5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5pPr>
      <a:lvl6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6pPr>
      <a:lvl7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7pPr>
      <a:lvl8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8pPr>
      <a:lvl9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9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indent="0" algn="l" defTabSz="914400" rtl="0" eaLnBrk="1" latinLnBrk="0" hangingPunct="1">
        <a:lnSpc>
          <a:spcPct val="100000"/>
        </a:lnSpc>
        <a:spcBef>
          <a:spcPts val="100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00000"/>
        </a:lnSpc>
        <a:spcBef>
          <a:spcPts val="50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00000"/>
        </a:lnSpc>
        <a:spcBef>
          <a:spcPts val="50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00000"/>
        </a:lnSpc>
        <a:spcBef>
          <a:spcPts val="50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00000"/>
        </a:lnSpc>
        <a:spcBef>
          <a:spcPts val="50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indent="0" algn="l" defTabSz="914400" rtl="0" eaLnBrk="1" latinLnBrk="0" hangingPunct="1">
        <a:lnSpc>
          <a:spcPct val="100000"/>
        </a:lnSpc>
        <a:spcBef>
          <a:spcPts val="50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indent="0" algn="l" defTabSz="914400" rtl="0" eaLnBrk="1" latinLnBrk="0" hangingPunct="1">
        <a:lnSpc>
          <a:spcPct val="100000"/>
        </a:lnSpc>
        <a:spcBef>
          <a:spcPts val="50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indent="0" algn="l" defTabSz="914400" rtl="0" eaLnBrk="1" latinLnBrk="0" hangingPunct="1">
        <a:lnSpc>
          <a:spcPct val="100000"/>
        </a:lnSpc>
        <a:spcBef>
          <a:spcPts val="50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indent="0" algn="l" defTabSz="914400" rtl="0" eaLnBrk="1" latinLnBrk="0" hangingPunct="1">
        <a:lnSpc>
          <a:spcPct val="100000"/>
        </a:lnSpc>
        <a:spcBef>
          <a:spcPts val="50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E3F1"/>
            </a:gs>
            <a:gs pos="100000">
              <a:srgbClr val="C6F1F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571500" y="1143000"/>
            <a:ext cx="11049000" cy="2190750"/>
          </a:xfrm>
        </p:spPr>
        <p:txBody>
          <a:bodyPr/>
          <a:lstStyle/>
          <a:p>
            <a:r>
              <a:rPr lang="pl-PL" sz="6600" b="1" dirty="0">
                <a:solidFill>
                  <a:srgbClr val="FF2D2D"/>
                </a:solidFill>
                <a:latin typeface="Impact"/>
                <a:cs typeface="Impact"/>
              </a:rPr>
              <a:t>PRAKTYKI ZAWODOWE!!!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524000" y="3810000"/>
            <a:ext cx="9144000" cy="1143000"/>
          </a:xfrm>
        </p:spPr>
        <p:txBody>
          <a:bodyPr/>
          <a:lstStyle/>
          <a:p>
            <a:r>
              <a:rPr lang="pl-PL" sz="2000" i="1" dirty="0">
                <a:solidFill>
                  <a:srgbClr val="D9D2E9"/>
                </a:solidFill>
                <a:latin typeface="Times New Roman"/>
                <a:cs typeface="Times New Roman"/>
              </a:rPr>
              <a:t>Poradnik dla klas pierwszych – wszystko, co musisz wiedzieć, zanim pójdziesz do firmy</a:t>
            </a:r>
          </a:p>
        </p:txBody>
      </p:sp>
    </p:spTree>
  </p:cSld>
  <p:clrMapOvr>
    <a:masterClrMapping/>
  </p:clrMapOvr>
  <p:transition spd="slow">
    <p:wheel spokes="8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285750" y="95250"/>
            <a:ext cx="11620500" cy="762000"/>
          </a:xfrm>
        </p:spPr>
        <p:txBody>
          <a:bodyPr/>
          <a:lstStyle/>
          <a:p>
            <a:r>
              <a:rPr lang="pl-PL" sz="2400" b="1" dirty="0">
                <a:solidFill>
                  <a:srgbClr val="7030A0"/>
                </a:solidFill>
                <a:latin typeface="Comic Sans MS"/>
                <a:cs typeface="Comic Sans MS"/>
              </a:rPr>
              <a:t>Czym są praktyki zawodowe i jak wyglądają w praktyce w firmie?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285750" y="904875"/>
            <a:ext cx="11620500" cy="5810250"/>
          </a:xfrm>
        </p:spPr>
        <p:txBody>
          <a:bodyPr/>
          <a:lstStyle/>
          <a:p>
            <a:r>
              <a:rPr lang="pl-PL" sz="1600" dirty="0">
                <a:solidFill>
                  <a:srgbClr val="404040"/>
                </a:solidFill>
                <a:latin typeface="Times New Roman"/>
                <a:cs typeface="Times New Roman"/>
              </a:rPr>
              <a:t>Praktyki zawodowe to część nauki w technikum, która odbywa się w prawdziwej firmie albo instytucji, a nie w szkole.</a:t>
            </a:r>
          </a:p>
          <a:p>
            <a:r>
              <a:rPr lang="pl-PL" sz="1600" dirty="0">
                <a:solidFill>
                  <a:srgbClr val="404040"/>
                </a:solidFill>
                <a:latin typeface="Times New Roman"/>
                <a:cs typeface="Times New Roman"/>
              </a:rPr>
              <a:t>Podczas praktyk uczeń poznaje codzienną pracę w zawodzie i wykonuje zadania pod opieką opiekuna praktyk.</a:t>
            </a:r>
          </a:p>
          <a:p>
            <a:r>
              <a:rPr lang="pl-PL" sz="1600" dirty="0">
                <a:solidFill>
                  <a:srgbClr val="404040"/>
                </a:solidFill>
                <a:latin typeface="Times New Roman"/>
                <a:cs typeface="Times New Roman"/>
              </a:rPr>
              <a:t>Opiekun praktyk to pracownik firmy, który przydziela zadania i ocenia ucznia.</a:t>
            </a:r>
          </a:p>
          <a:p>
            <a:r>
              <a:rPr lang="pl-PL" sz="1600" dirty="0">
                <a:solidFill>
                  <a:srgbClr val="404040"/>
                </a:solidFill>
                <a:latin typeface="Times New Roman"/>
                <a:cs typeface="Times New Roman"/>
              </a:rPr>
              <a:t>Praktyki trwają zwykle kilka tygodni i mają określone godziny pracy, których trzeba przestrzegać.</a:t>
            </a:r>
          </a:p>
          <a:p>
            <a:r>
              <a:rPr lang="pl-PL" sz="1600" dirty="0">
                <a:solidFill>
                  <a:srgbClr val="404040"/>
                </a:solidFill>
                <a:latin typeface="Times New Roman"/>
                <a:cs typeface="Times New Roman"/>
              </a:rPr>
              <a:t>Na praktykach obowiązuje regulamin firmy, zasady BHP i tajemnica firmy.</a:t>
            </a:r>
          </a:p>
          <a:p>
            <a:r>
              <a:rPr lang="pl-PL" sz="1600" dirty="0">
                <a:solidFill>
                  <a:srgbClr val="404040"/>
                </a:solidFill>
                <a:latin typeface="Times New Roman"/>
                <a:cs typeface="Times New Roman"/>
              </a:rPr>
              <a:t>Uczeń prowadzi dzienniczek praktyk i wpisuje do niego wykonane zadania.</a:t>
            </a:r>
          </a:p>
          <a:p>
            <a:r>
              <a:rPr lang="pl-PL" sz="1600" dirty="0">
                <a:solidFill>
                  <a:srgbClr val="404040"/>
                </a:solidFill>
                <a:latin typeface="Times New Roman"/>
                <a:cs typeface="Times New Roman"/>
              </a:rPr>
              <a:t>Na koniec opiekun wystawia ocenę, która trafia do szkoły.</a:t>
            </a:r>
          </a:p>
          <a:p>
            <a:r>
              <a:rPr lang="pl-PL" sz="1600" dirty="0">
                <a:solidFill>
                  <a:srgbClr val="404040"/>
                </a:solidFill>
                <a:latin typeface="Times New Roman"/>
                <a:cs typeface="Times New Roman"/>
              </a:rPr>
              <a:t>Dobre praktyki mogą skończyć się propozycją pracy wakacyjnej albo pracy po szkole.</a:t>
            </a:r>
          </a:p>
          <a:p>
            <a:r>
              <a:rPr lang="pl-PL" sz="1600" dirty="0">
                <a:solidFill>
                  <a:srgbClr val="404040"/>
                </a:solidFill>
                <a:latin typeface="Times New Roman"/>
                <a:cs typeface="Times New Roman"/>
              </a:rPr>
              <a:t>Warto zapisywać pytania, które pojawiają się w trakcie dnia, i zadawać je opiekunowi w spokojnym momencie, a nie w trakcie ważnego zadania.</a:t>
            </a:r>
          </a:p>
          <a:p>
            <a:r>
              <a:rPr lang="pl-PL" sz="1600" dirty="0">
                <a:solidFill>
                  <a:srgbClr val="404040"/>
                </a:solidFill>
                <a:latin typeface="Times New Roman"/>
                <a:cs typeface="Times New Roman"/>
              </a:rPr>
              <a:t>Telefon w czasie pracy odkładamy, chyba że opiekun pozwoli inaczej, bo w wielu firmach obowiązują zasady dotyczące zdjęć i nagrywania.</a:t>
            </a:r>
          </a:p>
        </p:txBody>
      </p:sp>
    </p:spTree>
  </p:cSld>
  <p:clrMapOvr>
    <a:masterClrMapping/>
  </p:clrMapOvr>
  <p:transition spd="med">
    <p:check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z="4000" b="1" dirty="0">
                <a:solidFill>
                  <a:srgbClr val="FFE14D"/>
                </a:solidFill>
                <a:latin typeface="Arial Black"/>
                <a:cs typeface="Arial Black"/>
              </a:rPr>
              <a:t>Co zabrać pierwszego dnia?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609600" y="1619250"/>
            <a:ext cx="7810500" cy="4476750"/>
          </a:xfrm>
        </p:spPr>
        <p:txBody>
          <a:bodyPr/>
          <a:lstStyle/>
          <a:p>
            <a:r>
              <a:rPr lang="pl-PL" sz="2800" dirty="0">
                <a:solidFill>
                  <a:srgbClr val="F5E68A"/>
                </a:solidFill>
                <a:latin typeface="Arial"/>
                <a:cs typeface="Arial"/>
              </a:rPr>
              <a:t>Dowód osobisty albo legitymację</a:t>
            </a:r>
          </a:p>
          <a:p>
            <a:r>
              <a:rPr lang="pl-PL" sz="2800" dirty="0">
                <a:solidFill>
                  <a:srgbClr val="F5E68A"/>
                </a:solidFill>
                <a:latin typeface="Arial"/>
                <a:cs typeface="Arial"/>
              </a:rPr>
              <a:t>Skierowanie na praktyki ze szkoły</a:t>
            </a:r>
          </a:p>
          <a:p>
            <a:r>
              <a:rPr lang="pl-PL" sz="2800" dirty="0">
                <a:solidFill>
                  <a:srgbClr val="F5E68A"/>
                </a:solidFill>
                <a:latin typeface="Arial"/>
                <a:cs typeface="Arial"/>
              </a:rPr>
              <a:t>Dzienniczek praktyk</a:t>
            </a:r>
          </a:p>
          <a:p>
            <a:r>
              <a:rPr lang="pl-PL" sz="2800" dirty="0">
                <a:solidFill>
                  <a:srgbClr val="F5E68A"/>
                </a:solidFill>
                <a:latin typeface="Arial"/>
                <a:cs typeface="Arial"/>
              </a:rPr>
              <a:t>Wygodne buty i coś do jedzenia</a:t>
            </a:r>
          </a:p>
        </p:txBody>
      </p:sp>
      <p:sp>
        <p:nvSpPr>
          <p:cNvPr id="4" name="Gwiazda 3"/>
          <p:cNvSpPr/>
          <p:nvPr/>
        </p:nvSpPr>
        <p:spPr>
          <a:xfrm>
            <a:off x="8858250" y="1619250"/>
            <a:ext cx="2190750" cy="2000250"/>
          </a:xfrm>
          <a:prstGeom prst="star5">
            <a:avLst/>
          </a:prstGeom>
          <a:solidFill>
            <a:srgbClr val="FF0000"/>
          </a:solidFill>
        </p:spPr>
        <p:txBody>
          <a:bodyPr wrap="square" anchor="ctr" rtlCol="0">
            <a:normAutofit/>
          </a:bodyPr>
          <a:lstStyle/>
          <a:p>
            <a:pPr algn="ctr"/>
            <a:r>
              <a:rPr lang="pl-PL" sz="1600" b="1" dirty="0">
                <a:solidFill>
                  <a:srgbClr val="FFFF00"/>
                </a:solidFill>
                <a:latin typeface="Comic Sans MS"/>
                <a:cs typeface="Comic Sans MS"/>
              </a:rPr>
              <a:t>WAŻNE!</a:t>
            </a:r>
          </a:p>
        </p:txBody>
      </p:sp>
      <p:sp>
        <p:nvSpPr>
          <p:cNvPr id="5" name="Gwiazda 4"/>
          <p:cNvSpPr/>
          <p:nvPr/>
        </p:nvSpPr>
        <p:spPr>
          <a:xfrm>
            <a:off x="9334500" y="3810000"/>
            <a:ext cx="1905000" cy="1809750"/>
          </a:xfrm>
          <a:prstGeom prst="star5">
            <a:avLst/>
          </a:prstGeom>
          <a:solidFill>
            <a:srgbClr val="00B050"/>
          </a:solidFill>
        </p:spPr>
        <p:txBody>
          <a:bodyPr wrap="square" anchor="ctr" rtlCol="0">
            <a:normAutofit/>
          </a:bodyPr>
          <a:lstStyle/>
          <a:p>
            <a:pPr algn="ctr"/>
            <a:r>
              <a:rPr lang="pl-PL" sz="2400" b="1" dirty="0">
                <a:solidFill>
                  <a:srgbClr val="FFFFFF"/>
                </a:solidFill>
                <a:latin typeface="Impact"/>
                <a:cs typeface="Impact"/>
              </a:rPr>
              <a:t>!!!</a:t>
            </a:r>
          </a:p>
        </p:txBody>
      </p:sp>
      <p:sp>
        <p:nvSpPr>
          <p:cNvPr id="6" name="Strzałka 5"/>
          <p:cNvSpPr/>
          <p:nvPr/>
        </p:nvSpPr>
        <p:spPr>
          <a:xfrm>
            <a:off x="8572500" y="5810250"/>
            <a:ext cx="2857500" cy="762000"/>
          </a:xfrm>
          <a:prstGeom prst="rightArrow">
            <a:avLst/>
          </a:prstGeom>
          <a:solidFill>
            <a:srgbClr val="7030A0"/>
          </a:solidFill>
        </p:spPr>
        <p:txBody>
          <a:bodyPr wrap="square" anchor="ctr" rtlCol="0">
            <a:normAutofit/>
          </a:bodyPr>
          <a:lstStyle/>
          <a:p>
            <a:pPr algn="ctr"/>
            <a:r>
              <a:rPr lang="pl-PL" sz="1400" dirty="0">
                <a:solidFill>
                  <a:srgbClr val="FFFFFF"/>
                </a:solidFill>
                <a:latin typeface="Comic Sans MS"/>
                <a:cs typeface="Comic Sans MS"/>
              </a:rPr>
              <a:t>nie zapomnij</a:t>
            </a:r>
          </a:p>
        </p:txBody>
      </p:sp>
    </p:spTree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z="4000" dirty="0">
                <a:solidFill>
                  <a:srgbClr val="C00000"/>
                </a:solidFill>
                <a:latin typeface="Monotype Corsiva"/>
                <a:cs typeface="Monotype Corsiva"/>
              </a:rPr>
              <a:t>Twoje stanowisko pracy</a:t>
            </a:r>
          </a:p>
        </p:txBody>
      </p:sp>
      <p:pic>
        <p:nvPicPr>
          <p:cNvPr id="3" name="Obraz 2" descr="Zdjęcie biurka z laptopem, kubkiem i rośliną, z widocznym znakiem wodnym fotobank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24000"/>
            <a:ext cx="10953750" cy="4000500"/>
          </a:xfrm>
          <a:prstGeom prst="rect">
            <a:avLst/>
          </a:prstGeom>
        </p:spPr>
      </p:pic>
      <p:sp>
        <p:nvSpPr>
          <p:cNvPr id="4" name="Pole tekstowe 3"/>
          <p:cNvSpPr txBox="1"/>
          <p:nvPr/>
        </p:nvSpPr>
        <p:spPr>
          <a:xfrm>
            <a:off x="609600" y="5619750"/>
            <a:ext cx="10953750" cy="57150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r>
              <a:rPr lang="pl-PL" sz="1200" dirty="0">
                <a:solidFill>
                  <a:srgbClr val="A6A6A6"/>
                </a:solidFill>
                <a:latin typeface="Arial"/>
                <a:cs typeface="Arial"/>
              </a:rPr>
              <a:t>zdjęcie z internetu. Dbaj o porządek na stanowisku i nie jedz przy komputerze firmy!</a:t>
            </a:r>
          </a:p>
        </p:txBody>
      </p:sp>
    </p:spTree>
  </p:cSld>
  <p:clrMapOvr>
    <a:masterClrMapping/>
  </p:clrMapOvr>
  <p:transition spd="slow">
    <p:wheel spokes="4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z="2000" b="1" dirty="0">
                <a:solidFill>
                  <a:srgbClr val="2F5597"/>
                </a:solidFill>
                <a:latin typeface="Verdana"/>
                <a:cs typeface="Verdana"/>
              </a:rPr>
              <a:t>Wyniki ankiety: czego najbardziej boją się uczniowie przed pierwszymi praktykami zawodowymi?</a:t>
            </a:r>
          </a:p>
        </p:txBody>
      </p:sp>
      <p:graphicFrame>
        <p:nvGraphicFramePr>
          <p:cNvPr id="3" name="Tabela 2"/>
          <p:cNvGraphicFramePr>
            <a:graphicFrameLocks noGrp="1"/>
          </p:cNvGraphicFramePr>
          <p:nvPr/>
        </p:nvGraphicFramePr>
        <p:xfrm>
          <a:off x="609600" y="1619250"/>
          <a:ext cx="1095375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0575"/>
                <a:gridCol w="1752600"/>
                <a:gridCol w="1533525"/>
                <a:gridCol w="3067050"/>
              </a:tblGrid>
              <a:tr h="523875">
                <a:tc>
                  <a:txBody>
                    <a:bodyPr/>
                    <a:lstStyle/>
                    <a:p>
                      <a:r>
                        <a:rPr lang="pl-PL" sz="1100" dirty="0"/>
                        <a:t>Odpowiedź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100" dirty="0"/>
                        <a:t>Liczba osób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100" dirty="0"/>
                        <a:t>Procent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100" dirty="0"/>
                        <a:t>Uwagi</a:t>
                      </a:r>
                    </a:p>
                  </a:txBody>
                  <a:tcPr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lang="pl-PL" sz="1100" dirty="0"/>
                        <a:t>Że nie poradzę sobie z zadaniami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100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100" dirty="0"/>
                        <a:t>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100" dirty="0"/>
                        <a:t>najczęściej klasy 1</a:t>
                      </a:r>
                    </a:p>
                  </a:txBody>
                  <a:tcPr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lang="pl-PL" sz="1100" dirty="0"/>
                        <a:t>Nowych ludzi w pracy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1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100" dirty="0"/>
                        <a:t>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 sz="1100" dirty="0"/>
                    </a:p>
                  </a:txBody>
                  <a:tcPr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lang="pl-PL" sz="1100" dirty="0"/>
                        <a:t>Dojazdu do firmy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1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100" dirty="0"/>
                        <a:t>14%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100" dirty="0"/>
                        <a:t>dojazd &gt; 30 min</a:t>
                      </a:r>
                    </a:p>
                  </a:txBody>
                  <a:tcPr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lang="pl-PL" sz="1100" dirty="0"/>
                        <a:t>Że będę się nudzić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1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100" dirty="0"/>
                        <a:t>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 sz="1100" dirty="0"/>
                    </a:p>
                  </a:txBody>
                  <a:tcPr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lang="pl-PL" sz="1100" dirty="0"/>
                        <a:t>Opiekuna praktyk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1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100" dirty="0"/>
                        <a:t>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 sz="1100" dirty="0"/>
                    </a:p>
                  </a:txBody>
                  <a:tcPr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lang="pl-PL" sz="1100" dirty="0"/>
                        <a:t>Inne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1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100" dirty="0"/>
                        <a:t>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100" dirty="0"/>
                        <a:t>np. stroju</a:t>
                      </a:r>
                    </a:p>
                  </a:txBody>
                  <a:tcPr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lang="pl-PL" sz="1100" dirty="0"/>
                        <a:t>Razem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1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100" dirty="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100" dirty="0"/>
                        <a:t>ankieta, dane fikcyjne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609600" y="1714500"/>
            <a:ext cx="10972800" cy="1905000"/>
          </a:xfrm>
        </p:spPr>
        <p:txBody>
          <a:bodyPr/>
          <a:lstStyle/>
          <a:p>
            <a:pPr algn="ctr"/>
            <a:r>
              <a:rPr lang="pl-PL" sz="5400" b="1" dirty="0">
                <a:solidFill>
                  <a:srgbClr val="FF0000"/>
                </a:solidFill>
                <a:latin typeface="Comic Sans MS"/>
                <a:cs typeface="Comic Sans MS"/>
              </a:rPr>
              <a:t>DZIĘKUJĘ ZA UWAGĘ!!!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609600" y="3810000"/>
            <a:ext cx="10972800" cy="1333500"/>
          </a:xfrm>
        </p:spPr>
        <p:txBody>
          <a:bodyPr/>
          <a:lstStyle/>
          <a:p>
            <a:pPr algn="ctr">
              <a:buNone/>
            </a:pPr>
            <a:r>
              <a:rPr lang="pl-PL" sz="4400" dirty="0">
                <a:solidFill>
                  <a:srgbClr val="C00000"/>
                </a:solidFill>
                <a:latin typeface="Comic Sans MS"/>
                <a:cs typeface="Comic Sans MS"/>
              </a:rPr>
              <a:t>PYTANIA???</a:t>
            </a:r>
          </a:p>
        </p:txBody>
      </p:sp>
    </p:spTree>
  </p:cSld>
  <p:clrMapOvr>
    <a:masterClrMapping/>
  </p:clrMapOvr>
  <p:transition spd="slow">
    <p:wheel spokes="8"/>
  </p:transition>
</p:sld>
</file>

<file path=ppt/theme/theme1.xml><?xml version="1.0" encoding="utf-8"?>
<a:theme xmlns:a="http://schemas.openxmlformats.org/drawingml/2006/main" name="Pakiet Office (lekcja 75)">
  <a:themeElements>
    <a:clrScheme name="Pakiet Office (lekcja 75)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 (lekcja 75)">
      <a:majorFont>
        <a:latin typeface="Calibri Light" panose="00000000000000000000"/>
        <a:ea typeface=""/>
        <a:cs typeface=""/>
      </a:majorFont>
      <a:minorFont>
        <a:latin typeface="Calibri" panose="00000000000000000000"/>
        <a:ea typeface=""/>
        <a:cs typeface=""/>
      </a:minorFont>
    </a:fontScheme>
    <a:fmtScheme name="Pakiet Office (lekcja 75)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67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67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atki">
  <a:themeElements>
    <a:clrScheme name="Notatki">
      <a:dk1>
        <a:srgbClr val="000000"/>
      </a:dk1>
      <a:lt1>
        <a:srgbClr val="FFFFFF"/>
      </a:lt1>
      <a:dk2>
        <a:srgbClr val="1F2A44"/>
      </a:dk2>
      <a:lt2>
        <a:srgbClr val="EEF1F5"/>
      </a:lt2>
      <a:accent1>
        <a:srgbClr val="1F4FA3"/>
      </a:accent1>
      <a:accent2>
        <a:srgbClr val="C0504D"/>
      </a:accent2>
      <a:accent3>
        <a:srgbClr val="16A36A"/>
      </a:accent3>
      <a:accent4>
        <a:srgbClr val="8064A2"/>
      </a:accent4>
      <a:accent5>
        <a:srgbClr val="4BACC6"/>
      </a:accent5>
      <a:accent6>
        <a:srgbClr val="F79646"/>
      </a:accent6>
      <a:hlink>
        <a:srgbClr val="1F4FA3"/>
      </a:hlink>
      <a:folHlink>
        <a:srgbClr val="6B4E9B"/>
      </a:folHlink>
    </a:clrScheme>
    <a:fontScheme name="Notatki">
      <a:majorFont>
        <a:latin typeface="Calibri Light" panose="00000000000000000000"/>
        <a:ea typeface=""/>
        <a:cs typeface=""/>
      </a:majorFont>
      <a:minorFont>
        <a:latin typeface="Calibri" panose="00000000000000000000"/>
        <a:ea typeface=""/>
        <a:cs typeface=""/>
      </a:minorFont>
    </a:fontScheme>
    <a:fmtScheme name="Notatki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67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67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PresentationFormat>Panoramiczny</PresentationFormat>
  <Slides>6</Slides>
  <Notes>0</Notes>
  <Application>Informatyka praktycznie (generator PPTX)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Praktyki zawodowe – prezentacja do naprawy (lekcja 46)</dc:title>
  <dc:creator>Informatyka praktycznie – materiały lekcji</dc:creator>
  <dc:language>pl-PL</dc:language>
  <dcterms:created xsi:type="dcterms:W3CDTF">2026-10-16T12:00:00Z</dcterms:created>
  <dcterms:modified xsi:type="dcterms:W3CDTF">2026-10-16T12:00:00Z</dcterms:modified>
</cp:coreProperties>
</file>